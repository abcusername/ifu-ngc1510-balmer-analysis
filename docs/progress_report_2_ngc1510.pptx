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68" r:id="rId6"/>
    <p:sldId id="269" r:id="rId7"/>
    <p:sldId id="270" r:id="rId8"/>
    <p:sldId id="257" r:id="rId9"/>
    <p:sldId id="271" r:id="rId10"/>
    <p:sldId id="272" r:id="rId11"/>
    <p:sldId id="258" r:id="rId12"/>
    <p:sldId id="259" r:id="rId13"/>
    <p:sldId id="261" r:id="rId14"/>
    <p:sldId id="262" r:id="rId15"/>
    <p:sldId id="273" r:id="rId16"/>
    <p:sldId id="274" r:id="rId17"/>
    <p:sldId id="263" r:id="rId18"/>
    <p:sldId id="264" r:id="rId19"/>
    <p:sldId id="267" r:id="rId20"/>
    <p:sldId id="275" r:id="rId21"/>
    <p:sldId id="276" r:id="rId22"/>
    <p:sldId id="277" r:id="rId23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Template background adapted from /mnt/data/物理学院模板16×9/slide-1.png
- Figure assets from /mnt/data/NGC1510_Halpha_map.png, /mnt/data/NGC1510_Hgamma_map.png, /mnt/data/NGC1510_Hdelta_map_snr5.png, /mnt/data/NGC1510_center_pixel_spectrum_x10_y18.png
- Content adapted from /mnt/data/NGC1510_补充尝试版汇报PPT.pptx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Template background adapted from /mnt/data/物理学院模板16×9/slide-8.png
- Figure asset from /mnt/data/NGC1510_Halpha_map.png
- Content adapted from /mnt/data/NGC1510_补充尝试版汇报PPT.pptx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Template background adapted from /mnt/data/物理学院模板16×9/slide-8.png
- Figure asset from /mnt/data/NGC1510_Hbeta_map.png
- Content adapted from /mnt/data/NGC1510_补充尝试版汇报PPT.pptx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Template background adapted from /mnt/data/物理学院模板16×9/slide-8.png
- Figure asset from /mnt/data/NGC1510_Hgamma_map.png
- Content adapted from /mnt/data/NGC1510_补充尝试版汇报PPT.pptx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Template background adapted from /mnt/data/物理学院模板16×9/slide-8.png
- Figure asset from /mnt/data/NGC1510_Hdelta_map_snr5.png
- Content adapted from /mnt/data/NGC1510_补充尝试版汇报PPT.pptx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Template background adapted from /mnt/data/物理学院模板16×9/slide-8.png
- Figure asset from /mnt/data/NGC1510_Heta_map.png
- Content adapted from /mnt/data/NGC1510_补充尝试版汇报PPT.pptx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Template background adapted from /mnt/data/物理学院模板16×9/slide-8.png
- Figure asset from /mnt/data/NGC1510_OIII5007_map.png
- Content adapted from /mnt/data/NGC1510_补充尝试版汇报PPT.pptx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Template background adapted from /mnt/data/物理学院模板16×9/slide-8.png
- Figure asset from /mnt/data/NGC1510_NII6583_map.png
- Content adapted from /mnt/data/NGC1510_补充尝试版汇报PPT.pptx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Template background adapted from /mnt/data/物理学院模板16×9/slide-8.png
- Figure asset from /mnt/data/NGC1510_Heta_map_snr5.png
- Content adapted from /mnt/data/NGC1510_补充尝试版汇报PPT.pptx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Template background adapted from /mnt/data/物理学院模板16×9/slide-8.png
- Figure asset from /mnt/data/Heta_Hbeta_masking_summary.png
- Content adapted from /mnt/data/NGC1510_补充尝试版汇报PPT.pptx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Template background adapted from /mnt/data/物理学院模板16×9/slide-10.png
- Figure asset from /mnt/data/NGC1510_center_pixel_spectrum_x10_y18.png
- Content adapted from /mnt/data/NGC1510_补充尝试版汇报PPT.pptx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Template background adapted from /mnt/data/物理学院模板16×9/slide-8.png
- Figure asset from /mnt/data/NGC1510_Heta_map_snr5.png
- Content adapted from /mnt/data/NGC1510_补充尝试版汇报PPT.pptx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Template background adapted from /mnt/data/物理学院模板16×9/slide-8.png
- Figure asset from /mnt/data/NGC1510_Heta_map_snr5.png
- Content adapted from /mnt/data/NGC1510_补充尝试版汇报PPT.pptx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56" y="365125"/>
            <a:ext cx="10515052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56" y="1825625"/>
            <a:ext cx="10515052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156" y="6356350"/>
            <a:ext cx="2743057" cy="365125"/>
          </a:xfrm>
        </p:spPr>
        <p:txBody>
          <a:bodyPr/>
          <a:lstStyle/>
          <a:p>
            <a:fld id="{E4DF5B64-5A67-444B-8F91-91B526DAF2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390" y="6356350"/>
            <a:ext cx="4114586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152" y="6356350"/>
            <a:ext cx="2743057" cy="365125"/>
          </a:xfrm>
        </p:spPr>
        <p:txBody>
          <a:bodyPr/>
          <a:lstStyle/>
          <a:p>
            <a:fld id="{F9A848B6-C0ED-4FE9-9B6B-FF8E262A7E4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56" y="365125"/>
            <a:ext cx="10515052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56" y="1825625"/>
            <a:ext cx="10515052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156" y="6356350"/>
            <a:ext cx="2743057" cy="365125"/>
          </a:xfrm>
        </p:spPr>
        <p:txBody>
          <a:bodyPr/>
          <a:lstStyle/>
          <a:p>
            <a:fld id="{E4DF5B64-5A67-444B-8F91-91B526DAF2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390" y="6356350"/>
            <a:ext cx="4114586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152" y="6356350"/>
            <a:ext cx="2743057" cy="365125"/>
          </a:xfrm>
        </p:spPr>
        <p:txBody>
          <a:bodyPr/>
          <a:lstStyle/>
          <a:p>
            <a:fld id="{F9A848B6-C0ED-4FE9-9B6B-FF8E262A7E4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9.png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0.pn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2.png"/><Relationship Id="rId1" Type="http://schemas.openxmlformats.org/officeDocument/2006/relationships/image" Target="../media/image3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物理学院模板16×9/slide-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53970" y="1752600"/>
            <a:ext cx="7313930" cy="932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NGC1510 发射线 Map 与中心像素拟合汇报</a:t>
            </a:r>
            <a:endParaRPr 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04470" y="5989320"/>
            <a:ext cx="3284855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汇报人：吴鑫星
单位：兰州大学物理科学与技术学院</a:t>
            </a:r>
            <a:endParaRPr 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0" name="Image 1" descr="/mnt/data/NGC1510_Halpha_map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342265" y="3348355"/>
            <a:ext cx="1800000" cy="1800000"/>
          </a:xfrm>
          <a:prstGeom prst="rect">
            <a:avLst/>
          </a:prstGeom>
        </p:spPr>
      </p:pic>
      <p:pic>
        <p:nvPicPr>
          <p:cNvPr id="12" name="Image 2" descr="/mnt/data/NGC1510_Hgamma_map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5632450" y="3348355"/>
            <a:ext cx="1800000" cy="1800000"/>
          </a:xfrm>
          <a:prstGeom prst="rect">
            <a:avLst/>
          </a:prstGeom>
        </p:spPr>
      </p:pic>
      <p:pic>
        <p:nvPicPr>
          <p:cNvPr id="14" name="Image 3" descr="C:/Users/30126/Desktop/吴鑫星兰州大学/项目/西湖大学 积分视场光谱观测/NGC1510_Hbeta_map.pngNGC1510_Hbeta_map"/>
          <p:cNvPicPr/>
          <p:nvPr/>
        </p:nvPicPr>
        <p:blipFill>
          <a:blip r:embed="rId4"/>
          <a:srcRect t="5233" b="5233"/>
          <a:stretch>
            <a:fillRect/>
          </a:stretch>
        </p:blipFill>
        <p:spPr>
          <a:xfrm>
            <a:off x="2955925" y="3348355"/>
            <a:ext cx="1800000" cy="1800000"/>
          </a:xfrm>
          <a:prstGeom prst="rect">
            <a:avLst/>
          </a:prstGeom>
        </p:spPr>
      </p:pic>
      <p:pic>
        <p:nvPicPr>
          <p:cNvPr id="16" name="Image 4" descr="/mnt/data/NGC1510_center_pixel_spectrum_x10_y18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8308975" y="3348355"/>
            <a:ext cx="3240000" cy="18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"/>
            <a:ext cx="12192012" cy="6857643"/>
          </a:xfr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56615" y="612140"/>
            <a:ext cx="1515745" cy="374015"/>
          </a:xfrm>
        </p:spPr>
        <p:txBody>
          <a:bodyPr/>
          <a:lstStyle/>
          <a:p>
            <a:pPr algn="l"/>
            <a:r>
              <a:rPr lang="en-US" sz="2000" b="1" dirty="0">
                <a:solidFill>
                  <a:srgbClr val="143A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数据的读取</a:t>
            </a:r>
            <a:endParaRPr lang="en-US" sz="2000" b="1" dirty="0">
              <a:solidFill>
                <a:srgbClr val="143A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835" y="1344295"/>
            <a:ext cx="6585585" cy="283083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6710" y="1097280"/>
            <a:ext cx="1038288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full_wave：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整个 </a:t>
            </a: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datacube 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对应的完整波长轴</a:t>
            </a:r>
            <a:endParaRPr lang="zh-CN" altLang="en-US" sz="16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full_spec：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完整光谱</a:t>
            </a:r>
            <a:endParaRPr lang="zh-CN" altLang="en-US" sz="16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full_spec_var：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完整光谱方差</a:t>
            </a:r>
            <a:endParaRPr lang="zh-CN" altLang="en-US" sz="16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wave_fit：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做拟合时使用的波长范围</a:t>
            </a:r>
            <a:endParaRPr lang="zh-CN" altLang="en-US" sz="16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spec_fit：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拟合范围内的观测光谱</a:t>
            </a:r>
            <a:endParaRPr lang="zh-CN" altLang="en-US" sz="16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spec_var_fit：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拟合范围内的光谱方差</a:t>
            </a:r>
            <a:endParaRPr lang="zh-CN" altLang="en-US" sz="16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spec_norm：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归一化信息</a:t>
            </a:r>
            <a:endParaRPr lang="zh-CN" altLang="en-US" sz="16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spec_snr：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连续谱信噪比</a:t>
            </a:r>
            <a:endParaRPr lang="zh-CN" altLang="en-US" sz="16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ppxf_fit：ppxf 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得到的整体拟合光谱</a:t>
            </a:r>
            <a:endParaRPr lang="zh-CN" altLang="en-US" sz="16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ppxf_gas_fit：ppxf 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得到的发射线成分</a:t>
            </a:r>
            <a:endParaRPr lang="zh-CN" altLang="en-US" sz="16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contim_spec：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连续谱</a:t>
            </a:r>
            <a:endParaRPr lang="zh-CN" altLang="en-US" sz="16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emit_spec：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发射线谱，一般就是 </a:t>
            </a: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spec_fit - contim_spec</a:t>
            </a:r>
            <a:endParaRPr lang="en-US" altLang="zh-CN" sz="16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ppxf_gas_vel：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气体发射线的运动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速度</a:t>
            </a:r>
            <a:endParaRPr lang="zh-CN" altLang="en-US" sz="16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ppxf_gas_disp：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气体发射线的谱线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展宽</a:t>
            </a:r>
            <a:endParaRPr lang="zh-CN" altLang="en-US" sz="16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ppxf_star_vel：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恒星吸收线测量的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速度</a:t>
            </a:r>
            <a:endParaRPr lang="zh-CN" altLang="en-US" sz="16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ppxf_star_disp：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恒星吸收线的谱线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展宽</a:t>
            </a:r>
            <a:endParaRPr lang="zh-CN" altLang="en-US" sz="16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ppxf_gasflux：ppxf</a:t>
            </a:r>
            <a:r>
              <a:rPr lang="zh-CN" altLang="en-US" sz="160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拟合的气体发射线得到的发射线流量，最重要，这里面存的是每条发射线的流量</a:t>
            </a:r>
            <a:r>
              <a:rPr lang="en-US" altLang="zh-CN" sz="160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zh-CN" altLang="en-US" sz="160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误差、信噪比</a:t>
            </a:r>
            <a:endParaRPr lang="zh-CN" altLang="en-US" sz="1600">
              <a:solidFill>
                <a:srgbClr val="FF000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Extinction：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消光相关信息</a:t>
            </a:r>
            <a:endParaRPr lang="zh-CN" altLang="en-US" sz="16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"/>
            <a:ext cx="12192012" cy="6857643"/>
          </a:xfr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56615" y="612140"/>
            <a:ext cx="1515745" cy="374015"/>
          </a:xfrm>
        </p:spPr>
        <p:txBody>
          <a:bodyPr/>
          <a:lstStyle/>
          <a:p>
            <a:pPr algn="l"/>
            <a:r>
              <a:rPr lang="en-US" sz="2000" b="1" dirty="0">
                <a:solidFill>
                  <a:srgbClr val="143A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数据的读取</a:t>
            </a:r>
            <a:endParaRPr lang="en-US" sz="2000" b="1" dirty="0">
              <a:solidFill>
                <a:srgbClr val="143A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475" y="1206500"/>
            <a:ext cx="6991985" cy="14446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0" y="3224530"/>
            <a:ext cx="5302885" cy="190563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00380" y="1485900"/>
            <a:ext cx="43827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拟合出的发射线，例如</a:t>
            </a: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 Htheta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Heta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Hzeta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Hdelta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Hgamma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Hbeta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Halpha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[OIII]5007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endParaRPr lang="en-US" altLang="zh-CN" sz="16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algn="l">
              <a:buClrTx/>
              <a:buSzTx/>
              <a:buNone/>
            </a:pP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[NII]6583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[SII]6716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[SII]6731......</a:t>
            </a:r>
            <a:endParaRPr lang="zh-CN" altLang="en-US" sz="16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485255" y="3429000"/>
            <a:ext cx="3140075" cy="1962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None/>
            </a:pP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line_names</a:t>
            </a: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 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:发射线名字列表</a:t>
            </a:r>
            <a:endParaRPr lang="zh-CN" altLang="en-US" sz="16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algn="l">
              <a:buClrTx/>
              <a:buSzTx/>
              <a:buNone/>
            </a:pP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lines</a:t>
            </a: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 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:对应的中心波长</a:t>
            </a:r>
            <a:endParaRPr lang="zh-CN" altLang="en-US" sz="16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algn="l">
              <a:buClrTx/>
              <a:buSzTx/>
              <a:buNone/>
            </a:pP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例如，</a:t>
            </a: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Halpha 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对应 6562.8 </a:t>
            </a:r>
            <a:r>
              <a:rPr lang="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Å</a:t>
            </a:r>
            <a:endParaRPr lang="" altLang="en-US" sz="16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algn="l">
              <a:buClrTx/>
              <a:buSzTx/>
              <a:buNone/>
            </a:pP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            Hbeta 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对应 4861.33 </a:t>
            </a:r>
            <a:r>
              <a:rPr lang="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Å</a:t>
            </a:r>
            <a:endParaRPr lang="" altLang="en-US" sz="16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algn="l">
              <a:buClrTx/>
              <a:buSzTx/>
              <a:buNone/>
            </a:pP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            Hgamma 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对应 4340.47 </a:t>
            </a:r>
            <a:r>
              <a:rPr lang="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Å</a:t>
            </a:r>
            <a:endParaRPr lang="" altLang="en-US" sz="16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algn="l">
              <a:buClrTx/>
              <a:buSzTx/>
              <a:buNone/>
            </a:pP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            Hdelta 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对应 4101.76 </a:t>
            </a:r>
            <a:r>
              <a:rPr lang="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Å</a:t>
            </a:r>
            <a:endParaRPr lang="" altLang="en-US" sz="16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algn="l">
              <a:buClrTx/>
              <a:buSzTx/>
              <a:buNone/>
            </a:pP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            Heta 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对应 3835.39 </a:t>
            </a:r>
            <a:r>
              <a:rPr lang="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Å </a:t>
            </a:r>
            <a:endParaRPr lang="zh-CN" altLang="en-US" sz="16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"/>
            <a:ext cx="12192012" cy="6857643"/>
          </a:xfr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56615" y="612140"/>
            <a:ext cx="1515745" cy="374015"/>
          </a:xfrm>
        </p:spPr>
        <p:txBody>
          <a:bodyPr/>
          <a:lstStyle/>
          <a:p>
            <a:pPr algn="l"/>
            <a:r>
              <a:rPr lang="en-US" sz="2000" b="1" dirty="0">
                <a:solidFill>
                  <a:srgbClr val="143A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数据的读取</a:t>
            </a:r>
            <a:endParaRPr lang="en-US" sz="2000" b="1" dirty="0">
              <a:solidFill>
                <a:srgbClr val="143A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770" y="1060450"/>
            <a:ext cx="5319395" cy="30187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75970" y="1132840"/>
            <a:ext cx="5747385" cy="2206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None/>
            </a:pP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line：这条线本身的信息,例如波长</a:t>
            </a:r>
            <a:endParaRPr lang="zh-CN" altLang="en-US" sz="16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algn="l">
              <a:buClrTx/>
              <a:buSzTx/>
              <a:buNone/>
            </a:pP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flux_snr：这条线在每个像素上的信噪比</a:t>
            </a:r>
            <a:endParaRPr lang="zh-CN" altLang="en-US" sz="16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algn="l">
              <a:buClrTx/>
              <a:buSzTx/>
              <a:buNone/>
            </a:pP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flux：这条线在每个像素上的流量</a:t>
            </a:r>
            <a:endParaRPr lang="zh-CN" altLang="en-US" sz="16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algn="l">
              <a:buClrTx/>
              <a:buSzTx/>
              <a:buNone/>
            </a:pP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flux_err：这条线在每个像素上的流量误差</a:t>
            </a:r>
            <a:endParaRPr lang="zh-CN" altLang="en-US" sz="16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algn="l">
              <a:buClrTx/>
              <a:buSzTx/>
              <a:buNone/>
            </a:pPr>
            <a:endParaRPr lang="zh-CN" altLang="en-US" sz="16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algn="l">
              <a:buClrTx/>
              <a:buSzTx/>
              <a:buNone/>
            </a:pPr>
            <a:r>
              <a:rPr lang="zh-CN" altLang="en-US" sz="160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例如，对于</a:t>
            </a:r>
            <a:r>
              <a:rPr lang="en-US" altLang="zh-CN" sz="160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Halpha</a:t>
            </a:r>
            <a:r>
              <a:rPr lang="zh-CN" altLang="en-US" sz="160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，</a:t>
            </a:r>
            <a:endParaRPr lang="zh-CN" altLang="en-US" sz="1600">
              <a:solidFill>
                <a:srgbClr val="FF000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algn="l">
              <a:buClrTx/>
              <a:buSzTx/>
              <a:buNone/>
            </a:pPr>
            <a:r>
              <a:rPr lang="zh-CN" altLang="en-US" sz="160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如果画</a:t>
            </a:r>
            <a:r>
              <a:rPr lang="en-US" altLang="zh-CN" sz="160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Halpha map</a:t>
            </a:r>
            <a:r>
              <a:rPr lang="zh-CN" altLang="en-US" sz="160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，实际上用的是</a:t>
            </a:r>
            <a:r>
              <a:rPr lang="en-US" altLang="zh-CN" sz="160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 gasflux_dic['Halpha']['flux']</a:t>
            </a:r>
            <a:endParaRPr lang="en-US" altLang="zh-CN" sz="1600">
              <a:solidFill>
                <a:srgbClr val="FF000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algn="l">
              <a:buClrTx/>
              <a:buSzTx/>
              <a:buNone/>
            </a:pPr>
            <a:r>
              <a:rPr lang="zh-CN" altLang="en-US" sz="160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如果要做掩膜，实际上要看</a:t>
            </a:r>
            <a:r>
              <a:rPr lang="en-US" altLang="zh-CN" sz="160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 gasflux_dic['Halpha']['flux_snr']</a:t>
            </a:r>
            <a:endParaRPr lang="en-US" altLang="zh-CN" sz="1600">
              <a:solidFill>
                <a:srgbClr val="FF000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algn="l">
              <a:buClrTx/>
              <a:buSzTx/>
              <a:buNone/>
            </a:pPr>
            <a:r>
              <a:rPr lang="zh-CN" altLang="en-US" sz="160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如果要考虑误差，</a:t>
            </a:r>
            <a:r>
              <a:rPr lang="zh-CN" altLang="en-US" sz="160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实际上要看</a:t>
            </a:r>
            <a:r>
              <a:rPr lang="en-US" altLang="zh-CN" sz="160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 gasflux_dic['Halpha']['flux_err']</a:t>
            </a:r>
            <a:endParaRPr lang="en-US" altLang="zh-CN" sz="1600">
              <a:solidFill>
                <a:srgbClr val="FF000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56615" y="4029075"/>
            <a:ext cx="30873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Ha_flux：Halpha 的二维流量图</a:t>
            </a:r>
            <a:endParaRPr lang="zh-CN" altLang="en-US" sz="16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algn="l">
              <a:buClrTx/>
              <a:buSzTx/>
              <a:buNone/>
            </a:pP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Ha_err：Halpha 的二维误差图</a:t>
            </a:r>
            <a:endParaRPr lang="zh-CN" altLang="en-US" sz="16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algn="l">
              <a:buClrTx/>
              <a:buSzTx/>
              <a:buNone/>
            </a:pP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Ha_snr：Halpha 的二维信噪比图</a:t>
            </a:r>
            <a:endParaRPr lang="zh-CN" altLang="en-US" sz="16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56615" y="5000625"/>
            <a:ext cx="75495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这张图一共有 38 行、25 列，也就是说视场里一共有 38 × 25 个像素</a:t>
            </a:r>
            <a:endParaRPr lang="zh-CN" altLang="en-US" sz="16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物理学院模板16×9/slide-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2650" y="621665"/>
            <a:ext cx="3099435" cy="2565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3A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Hα 发射线二维 Flux Map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66928" y="913892"/>
            <a:ext cx="10972800" cy="0"/>
          </a:xfrm>
          <a:prstGeom prst="line">
            <a:avLst/>
          </a:prstGeom>
          <a:noFill/>
          <a:ln w="12700">
            <a:solidFill>
              <a:srgbClr val="0E5A8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" y="1060704"/>
            <a:ext cx="4407408" cy="5102352"/>
          </a:xfrm>
          <a:prstGeom prst="roundRect">
            <a:avLst>
              <a:gd name="adj" fmla="val 166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7E3E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285232" y="1060704"/>
            <a:ext cx="6272784" cy="1901952"/>
          </a:xfrm>
          <a:prstGeom prst="roundRect">
            <a:avLst>
              <a:gd name="adj" fmla="val 3846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7E3E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468112" y="1207008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图题与图注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67985" y="1499870"/>
            <a:ext cx="5926455" cy="1207135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这张图展示了 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NGC1510 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 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Hα 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发射线二维 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flux 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分布。我从 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ppxf_gasflux 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中提取 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Hα 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 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flux 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和 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flux_snr，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并对信噪比低于 7 的像素进行了掩膜处理。结果显示，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Hα 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发射主要集中在星系主体区域，外围像素大多信号较弱或不可靠，因此被遮掉。</a:t>
            </a: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该图用于定位主体电离区，并据此确定中心 pixel。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285232" y="3172968"/>
            <a:ext cx="6272784" cy="2990088"/>
          </a:xfrm>
          <a:prstGeom prst="roundRect">
            <a:avLst>
              <a:gd name="adj" fmla="val 2446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7E3E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468112" y="3310128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对应代码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68112" y="3566160"/>
            <a:ext cx="5806440" cy="2331720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endParaRPr lang="en-US" sz="1120" dirty="0"/>
          </a:p>
        </p:txBody>
      </p:sp>
      <p:pic>
        <p:nvPicPr>
          <p:cNvPr id="14" name="图片 13"/>
          <p:cNvPicPr/>
          <p:nvPr/>
        </p:nvPicPr>
        <p:blipFill>
          <a:blip r:embed="rId2"/>
          <a:srcRect t="21444"/>
          <a:stretch>
            <a:fillRect/>
          </a:stretch>
        </p:blipFill>
        <p:spPr>
          <a:xfrm>
            <a:off x="607060" y="1408430"/>
            <a:ext cx="4392000" cy="4392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6640" y="3511550"/>
            <a:ext cx="4498340" cy="25342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"/>
            <a:ext cx="12192012" cy="6857643"/>
          </a:xfr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56615" y="612140"/>
            <a:ext cx="2170430" cy="374015"/>
          </a:xfrm>
        </p:spPr>
        <p:txBody>
          <a:bodyPr/>
          <a:lstStyle/>
          <a:p>
            <a:pPr algn="l"/>
            <a:r>
              <a:rPr lang="zh-CN" altLang="en-US" sz="2000" b="1" dirty="0">
                <a:solidFill>
                  <a:srgbClr val="143A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找中心</a:t>
            </a:r>
            <a:r>
              <a:rPr lang="zh-CN" altLang="en-US" sz="2000" b="1" dirty="0">
                <a:solidFill>
                  <a:srgbClr val="143A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像素</a:t>
            </a:r>
            <a:endParaRPr lang="zh-CN" altLang="en-US" sz="2000" b="1" dirty="0">
              <a:solidFill>
                <a:srgbClr val="143A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035" y="1789430"/>
            <a:ext cx="6688455" cy="328485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58825" y="1109345"/>
            <a:ext cx="103035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Halpha 是最强、最稳定的 Balmer 发射线之一，由前图可知，主体区域最强，分布最平滑、最完整，中心亮区清楚，外围结构延展明显，只有边缘有少量被掩掉的空白。所以，采用Halpha找中心像素。</a:t>
            </a:r>
            <a:endParaRPr lang="zh-CN" altLang="en-US" sz="16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56615" y="5269865"/>
            <a:ext cx="101542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由上图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可知，在经过 Halpha S/N &gt; 7 掩膜以后，NGC1510 最亮、最可靠的 Halpha 像素位置是 [x, y] = [10, 18]</a:t>
            </a:r>
            <a:endParaRPr lang="zh-CN" altLang="en-US" sz="16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"/>
            <a:ext cx="12192012" cy="6857643"/>
          </a:xfr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56615" y="648970"/>
            <a:ext cx="3586480" cy="374015"/>
          </a:xfrm>
        </p:spPr>
        <p:txBody>
          <a:bodyPr/>
          <a:lstStyle/>
          <a:p>
            <a:pPr algn="l"/>
            <a:r>
              <a:rPr lang="zh-CN" altLang="en-US" sz="2000" b="1" dirty="0">
                <a:solidFill>
                  <a:srgbClr val="143A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建立二维发射线</a:t>
            </a:r>
            <a:r>
              <a:rPr lang="en-US" altLang="zh-CN" sz="2000" b="1" dirty="0">
                <a:solidFill>
                  <a:srgbClr val="143A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map</a:t>
            </a:r>
            <a:r>
              <a:rPr lang="zh-CN" altLang="en-US" sz="2000" b="1" dirty="0">
                <a:solidFill>
                  <a:srgbClr val="143A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通用</a:t>
            </a:r>
            <a:r>
              <a:rPr lang="zh-CN" altLang="en-US" sz="2000" b="1" dirty="0">
                <a:solidFill>
                  <a:srgbClr val="143A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函数</a:t>
            </a:r>
            <a:endParaRPr lang="zh-CN" altLang="en-US" sz="2000" b="1" dirty="0">
              <a:solidFill>
                <a:srgbClr val="143A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t="704"/>
          <a:stretch>
            <a:fillRect/>
          </a:stretch>
        </p:blipFill>
        <p:spPr>
          <a:xfrm>
            <a:off x="484505" y="1236345"/>
            <a:ext cx="5275580" cy="438594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3465" y="2149475"/>
            <a:ext cx="5153025" cy="12795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274435" y="4355465"/>
            <a:ext cx="49980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采用该函数批量画不同发射线的二维 map</a:t>
            </a:r>
            <a:endParaRPr lang="zh-CN" altLang="en-US" sz="20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物理学院模板16×9/slide-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7055" y="622935"/>
            <a:ext cx="3155950" cy="255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3A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Hβ 发射线二维 Flux Map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66928" y="913892"/>
            <a:ext cx="10972800" cy="0"/>
          </a:xfrm>
          <a:prstGeom prst="line">
            <a:avLst/>
          </a:prstGeom>
          <a:noFill/>
          <a:ln w="12700">
            <a:solidFill>
              <a:srgbClr val="0E5A8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" y="1060704"/>
            <a:ext cx="4407408" cy="5102352"/>
          </a:xfrm>
          <a:prstGeom prst="roundRect">
            <a:avLst>
              <a:gd name="adj" fmla="val 166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7E3E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1" descr="/mnt/data/NGC1510_Hbeta_map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09727" y="1366875"/>
            <a:ext cx="4392000" cy="4392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285232" y="1060704"/>
            <a:ext cx="6272784" cy="1901952"/>
          </a:xfrm>
          <a:prstGeom prst="roundRect">
            <a:avLst>
              <a:gd name="adj" fmla="val 3846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7E3E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468112" y="1207008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图题与图注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67985" y="1499870"/>
            <a:ext cx="5833745" cy="99695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altLang="zh-CN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NGC1510 的 Hβ 发射线二维 flux map。与 Hα 相比整体更弱，但主体分布仍清晰，适合与 [OIII]5007 组合构建线比诊断。掩膜条件为 S/N &gt; 7。主体结构和 Halpha 很像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中心亮区依然明显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但整体比 Halpha 更弱一些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边缘掩掉的区域略多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左侧有一条比较亮的竖条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altLang="en-US" sz="1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5285232" y="3172968"/>
            <a:ext cx="6272784" cy="2990088"/>
          </a:xfrm>
          <a:prstGeom prst="roundRect">
            <a:avLst>
              <a:gd name="adj" fmla="val 2446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7E3E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468112" y="3310128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对应代码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67985" y="3696335"/>
            <a:ext cx="5806440" cy="1256030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Hb_flux = data_dic['ppxf_gasflux']['Hbeta']['flux'].copy()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Hb_snr  = data_dic['ppxf_gasflux']['Hbeta']['flux_snr']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Hb_flux[Hb_snr &lt; 7] = np.nan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plot_line_flux(data_dic, 'Hbeta', save=True,outname='NGC1510_Hbeta_map.png')</a:t>
            </a:r>
            <a:endParaRPr lang="en-US" sz="1400" dirty="0">
              <a:solidFill>
                <a:srgbClr val="2B2B2B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物理学院模板16×9/slide-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578485"/>
            <a:ext cx="8138160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3A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Hγ 发射线二维 Flux Map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66928" y="969137"/>
            <a:ext cx="10972800" cy="0"/>
          </a:xfrm>
          <a:prstGeom prst="line">
            <a:avLst/>
          </a:prstGeom>
          <a:noFill/>
          <a:ln w="12700">
            <a:solidFill>
              <a:srgbClr val="0E5A8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" y="1060704"/>
            <a:ext cx="4407408" cy="5102352"/>
          </a:xfrm>
          <a:prstGeom prst="roundRect">
            <a:avLst>
              <a:gd name="adj" fmla="val 166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7E3E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1" descr="/mnt/data/NGC1510_Hgamma_map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594487" y="1318615"/>
            <a:ext cx="4392000" cy="4392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285232" y="1060704"/>
            <a:ext cx="6272784" cy="1901952"/>
          </a:xfrm>
          <a:prstGeom prst="roundRect">
            <a:avLst>
              <a:gd name="adj" fmla="val 3846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7E3E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468112" y="1207008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图题与图注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68112" y="1499616"/>
            <a:ext cx="5833872" cy="1207008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NGC1510 的 Hγ 发射线二维 flux map。该线属于 Reddy 文章使用的低阶 Balmer 发射线之一，虽然比 Hα、Hβ 更弱，但主体结构仍可稳定显示。掩膜条件为 S/N &gt; 7。主体还在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亮区依旧集中在中间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形状和 </a:t>
            </a: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Hα、Hβ</a:t>
            </a: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大体一致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边缘开始更零碎一些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底部和左边有一些孤立亮点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altLang="en-US" sz="1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5285232" y="3172968"/>
            <a:ext cx="6272784" cy="2990088"/>
          </a:xfrm>
          <a:prstGeom prst="roundRect">
            <a:avLst>
              <a:gd name="adj" fmla="val 2446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7E3E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468112" y="3310128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对应代码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67985" y="3726815"/>
            <a:ext cx="5806440" cy="1478915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0" algn="l">
              <a:buClrTx/>
              <a:buSzTx/>
              <a:buNone/>
            </a:pPr>
            <a:r>
              <a:rPr lang="en-US" sz="14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Hg_flux = data_dic['ppxf_gasflux']['Hgamma']['flux'].copy()</a:t>
            </a:r>
            <a:endParaRPr lang="en-US" sz="1400" dirty="0">
              <a:solidFill>
                <a:srgbClr val="2B2B2B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4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Hg_snr  = data_dic['ppxf_gasflux']['Hgamma']['flux_snr']</a:t>
            </a:r>
            <a:endParaRPr lang="en-US" sz="1400" dirty="0">
              <a:solidFill>
                <a:srgbClr val="2B2B2B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4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Hg_flux[Hg_snr &lt; 7] = np.nan</a:t>
            </a:r>
            <a:endParaRPr lang="en-US" sz="1400" dirty="0">
              <a:solidFill>
                <a:srgbClr val="2B2B2B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4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plot_line_flux(data_dic, 'Hgamma', save=True,</a:t>
            </a:r>
            <a:endParaRPr lang="en-US" sz="1400" dirty="0">
              <a:solidFill>
                <a:srgbClr val="2B2B2B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4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outname='NGC1510_Hgamma_map.png')</a:t>
            </a:r>
            <a:endParaRPr lang="en-US" sz="1400" dirty="0">
              <a:solidFill>
                <a:srgbClr val="2B2B2B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物理学院模板16×9/slide-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554990"/>
            <a:ext cx="3272790" cy="402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3A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Hδ 发射线二维 Flux Map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66928" y="951992"/>
            <a:ext cx="10972800" cy="0"/>
          </a:xfrm>
          <a:prstGeom prst="line">
            <a:avLst/>
          </a:prstGeom>
          <a:noFill/>
          <a:ln w="12700">
            <a:solidFill>
              <a:srgbClr val="0E5A8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" y="1060704"/>
            <a:ext cx="4407408" cy="5102352"/>
          </a:xfrm>
          <a:prstGeom prst="roundRect">
            <a:avLst>
              <a:gd name="adj" fmla="val 166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7E3E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1" descr="C:/Users/30126/Desktop/吴鑫星兰州大学/项目/西湖大学 积分视场光谱观测/NGC1510_Hdelta_map.pngNGC1510_Hdelta_map"/>
          <p:cNvPicPr/>
          <p:nvPr/>
        </p:nvPicPr>
        <p:blipFill>
          <a:blip r:embed="rId2"/>
          <a:srcRect t="-1017" b="57"/>
          <a:stretch>
            <a:fillRect/>
          </a:stretch>
        </p:blipFill>
        <p:spPr>
          <a:xfrm>
            <a:off x="594360" y="1408430"/>
            <a:ext cx="4392295" cy="4392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285232" y="1060704"/>
            <a:ext cx="6272784" cy="1901952"/>
          </a:xfrm>
          <a:prstGeom prst="roundRect">
            <a:avLst>
              <a:gd name="adj" fmla="val 3846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7E3E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468112" y="1207008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图题与图注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68112" y="1499616"/>
            <a:ext cx="5833872" cy="1207008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algn="l">
              <a:buClrTx/>
              <a:buSzTx/>
              <a:buNone/>
            </a:pP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NGC1510 的 Hδ 发射线二维 flux map。该线属于 Reddy 文章使用的低阶 Balmer 发射线之一。</a:t>
            </a: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中心主体还在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但是分布范围明显缩小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右半边的尾部还能看见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左边和边缘空白很多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噪点明显增多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。虽然还能看出主体结构，但质量明显不如前面三张。</a:t>
            </a:r>
            <a:endParaRPr lang="zh-CN" altLang="en-US" sz="1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5285232" y="3172968"/>
            <a:ext cx="6272784" cy="2990088"/>
          </a:xfrm>
          <a:prstGeom prst="roundRect">
            <a:avLst>
              <a:gd name="adj" fmla="val 2446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7E3E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468112" y="3310128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对应代码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95290" y="3708400"/>
            <a:ext cx="5806440" cy="989965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0" algn="l">
              <a:buClrTx/>
              <a:buSzTx/>
              <a:buNone/>
            </a:pPr>
            <a:r>
              <a:rPr lang="en-US" sz="112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H</a:t>
            </a:r>
            <a:r>
              <a:rPr lang="en-US" sz="112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d_flux = data_dic['ppxf_gasflux']['Hdelta']['flux'].copy()</a:t>
            </a:r>
            <a:endParaRPr lang="en-US" sz="1120" dirty="0">
              <a:solidFill>
                <a:srgbClr val="2B2B2B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12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Hd_snr  = data_dic['ppxf_gasflux']['H</a:t>
            </a:r>
            <a:r>
              <a:rPr lang="en-US" sz="112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delta</a:t>
            </a:r>
            <a:r>
              <a:rPr lang="en-US" sz="112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']['flux_snr']</a:t>
            </a:r>
            <a:endParaRPr lang="en-US" sz="1120" dirty="0">
              <a:solidFill>
                <a:srgbClr val="2B2B2B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12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Hd_flux[Hd_snr &lt; 7] = np.nan</a:t>
            </a:r>
            <a:endParaRPr lang="en-US" sz="1120" dirty="0">
              <a:solidFill>
                <a:srgbClr val="2B2B2B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12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plot_line_flux(data_dic, 'H</a:t>
            </a:r>
            <a:r>
              <a:rPr lang="en-US" sz="112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delta</a:t>
            </a:r>
            <a:r>
              <a:rPr lang="en-US" sz="112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', save=True,</a:t>
            </a:r>
            <a:endParaRPr lang="en-US" sz="1120" dirty="0">
              <a:solidFill>
                <a:srgbClr val="2B2B2B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12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           outname='NGC1510_H</a:t>
            </a:r>
            <a:r>
              <a:rPr lang="en-US" sz="112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delta</a:t>
            </a:r>
            <a:r>
              <a:rPr lang="en-US" sz="112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_map.png')</a:t>
            </a:r>
            <a:endParaRPr lang="en-US" sz="11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物理学院模板16×9/slide-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7055" y="574040"/>
            <a:ext cx="3199130" cy="402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3A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Hη 发射线二维 Flux Map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66928" y="927227"/>
            <a:ext cx="10972800" cy="0"/>
          </a:xfrm>
          <a:prstGeom prst="line">
            <a:avLst/>
          </a:prstGeom>
          <a:noFill/>
          <a:ln w="12700">
            <a:solidFill>
              <a:srgbClr val="0E5A8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" y="1060704"/>
            <a:ext cx="4407408" cy="5102352"/>
          </a:xfrm>
          <a:prstGeom prst="roundRect">
            <a:avLst>
              <a:gd name="adj" fmla="val 166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7E3E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1" descr="C:/Users/30126/Desktop/吴鑫星兰州大学/项目/西湖大学 积分视场光谱观测/NGC1510_Heta_map.pngNGC1510_Heta_map"/>
          <p:cNvPicPr/>
          <p:nvPr/>
        </p:nvPicPr>
        <p:blipFill>
          <a:blip r:embed="rId2"/>
          <a:srcRect t="11" b="11"/>
          <a:stretch>
            <a:fillRect/>
          </a:stretch>
        </p:blipFill>
        <p:spPr>
          <a:xfrm>
            <a:off x="609727" y="1449963"/>
            <a:ext cx="4392000" cy="4392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285232" y="1060704"/>
            <a:ext cx="6272784" cy="1901952"/>
          </a:xfrm>
          <a:prstGeom prst="roundRect">
            <a:avLst>
              <a:gd name="adj" fmla="val 3846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7E3E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468112" y="1207008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图题与图注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68112" y="1499616"/>
            <a:ext cx="5833872" cy="1207008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NGC1510 的 </a:t>
            </a: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Hη </a:t>
            </a: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发射线二维 flux map,</a:t>
            </a: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该线明显比 Hγ、Hδ 更弱，主体结构较小，边缘异常点和噪声影响显著，只剩一小块中心结构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左边一整列异常竖条很明显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上边和底边有离散亮点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图很碎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空白区域很多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因此不能直接作为主要结果图。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后续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做 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Hbeta S/N 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掩膜尝试。</a:t>
            </a:r>
            <a:endParaRPr lang="zh-CN" altLang="en-US" sz="1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5285232" y="3172968"/>
            <a:ext cx="6272784" cy="2990088"/>
          </a:xfrm>
          <a:prstGeom prst="roundRect">
            <a:avLst>
              <a:gd name="adj" fmla="val 2446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7E3E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468112" y="3310128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对应代码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67985" y="3696335"/>
            <a:ext cx="5806440" cy="1089025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0" algn="l">
              <a:buClrTx/>
              <a:buSzTx/>
              <a:buNone/>
            </a:pPr>
            <a:r>
              <a:rPr lang="en-US" sz="112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H</a:t>
            </a:r>
            <a:r>
              <a:rPr lang="en-US" sz="112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e_flux = data_dic['ppxf_gasflux']['Heta']['flux'].copy()</a:t>
            </a:r>
            <a:endParaRPr lang="en-US" sz="1120" dirty="0">
              <a:solidFill>
                <a:srgbClr val="2B2B2B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12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He_snr  = data_dic['ppxf_gasflux']['Heta']['flux_snr']</a:t>
            </a:r>
            <a:endParaRPr lang="en-US" sz="1120" dirty="0">
              <a:solidFill>
                <a:srgbClr val="2B2B2B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12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He_flux[He_snr &lt; 7] = np.nan</a:t>
            </a:r>
            <a:endParaRPr lang="en-US" sz="1120" dirty="0">
              <a:solidFill>
                <a:srgbClr val="2B2B2B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12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plot_line_flux(data_dic, 'Heta', save=True,</a:t>
            </a:r>
            <a:endParaRPr lang="en-US" sz="1120" dirty="0">
              <a:solidFill>
                <a:srgbClr val="2B2B2B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12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           outname='NGC1510_Heta_map.png')</a:t>
            </a:r>
            <a:endParaRPr lang="en-US" sz="11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物理学院模板16×9/slide-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1180" y="587375"/>
            <a:ext cx="4172585" cy="402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3A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[OIII]5007 发射线二维 Flux Map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94233" y="933577"/>
            <a:ext cx="10972800" cy="0"/>
          </a:xfrm>
          <a:prstGeom prst="line">
            <a:avLst/>
          </a:prstGeom>
          <a:noFill/>
          <a:ln w="12700">
            <a:solidFill>
              <a:srgbClr val="0E5A8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" y="1060704"/>
            <a:ext cx="4407408" cy="5102352"/>
          </a:xfrm>
          <a:prstGeom prst="roundRect">
            <a:avLst>
              <a:gd name="adj" fmla="val 166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7E3E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1" descr="/mnt/data/NGC1510_OIII5007_map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594487" y="1408554"/>
            <a:ext cx="4392000" cy="4392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285232" y="1060704"/>
            <a:ext cx="6272784" cy="1901952"/>
          </a:xfrm>
          <a:prstGeom prst="roundRect">
            <a:avLst>
              <a:gd name="adj" fmla="val 3846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7E3E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468112" y="1207008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图题与图注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68112" y="1499616"/>
            <a:ext cx="5833872" cy="1207008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NGC1510 的</a:t>
            </a: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[OIII]5007 的二维 flux map。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主体平滑、连续，质量很好，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很亮，很完整，形状和 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Halpha 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很相似，</a:t>
            </a: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该图用于刻画高电离气体分布，并与 Hβ 一起用于构建 log([OIII]5007/Hβ) 线比图。掩膜条件为 S/N &gt; 7。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285232" y="3172968"/>
            <a:ext cx="6272784" cy="2990088"/>
          </a:xfrm>
          <a:prstGeom prst="roundRect">
            <a:avLst>
              <a:gd name="adj" fmla="val 2446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7E3E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468112" y="3310128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对应代码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95290" y="3708400"/>
            <a:ext cx="5806440" cy="799465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0" algn="l">
              <a:buClrTx/>
              <a:buSzTx/>
              <a:buNone/>
            </a:pPr>
            <a:r>
              <a:rPr lang="en-US" sz="112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plot_line_flux(data_dic, '[OIII]5007', save=True,</a:t>
            </a:r>
            <a:endParaRPr lang="en-US" sz="1120" dirty="0">
              <a:solidFill>
                <a:srgbClr val="2B2B2B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12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outname='NGC1510_OIII5007_map.png')</a:t>
            </a:r>
            <a:endParaRPr lang="en-US" sz="1120" dirty="0">
              <a:solidFill>
                <a:srgbClr val="2B2B2B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物理学院模板16×9/slide-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7055" y="574040"/>
            <a:ext cx="4070350" cy="402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3A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[NII]6583 发射线二维 Flux Map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66928" y="976757"/>
            <a:ext cx="10972800" cy="0"/>
          </a:xfrm>
          <a:prstGeom prst="line">
            <a:avLst/>
          </a:prstGeom>
          <a:noFill/>
          <a:ln w="12700">
            <a:solidFill>
              <a:srgbClr val="0E5A8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" y="1060704"/>
            <a:ext cx="4407408" cy="5102352"/>
          </a:xfrm>
          <a:prstGeom prst="roundRect">
            <a:avLst>
              <a:gd name="adj" fmla="val 166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7E3E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1" descr="/mnt/data/NGC1510_NII6583_map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09727" y="1408688"/>
            <a:ext cx="4392000" cy="4392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285232" y="1060704"/>
            <a:ext cx="6272784" cy="1901952"/>
          </a:xfrm>
          <a:prstGeom prst="roundRect">
            <a:avLst>
              <a:gd name="adj" fmla="val 3846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7E3E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468112" y="1207008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图题与图注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68112" y="1499616"/>
            <a:ext cx="5833872" cy="1207008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NGC1510 的</a:t>
            </a: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[NII]6583 的二维 flux map。主体结构非常完整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分布和 Halpha 很接近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中心亮区明显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边缘有适度掩膜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整体质量很好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该图与 Hα 组合可构建 log([NII]6583/Hα) 线比图，用于后续电离机制讨论。掩膜条件为 S/N &gt; 7。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285232" y="3172968"/>
            <a:ext cx="6272784" cy="2990088"/>
          </a:xfrm>
          <a:prstGeom prst="roundRect">
            <a:avLst>
              <a:gd name="adj" fmla="val 2446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7E3E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468112" y="3310128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对应代码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67985" y="3726815"/>
            <a:ext cx="5806440" cy="675640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plot_line_flux(data_dic, '[NII]6583', save=True,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outname='NGC1510_NII6583_map.png')</a:t>
            </a:r>
            <a:endParaRPr lang="en-US" sz="11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物理学院模板16×9/slide-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7055" y="554355"/>
            <a:ext cx="2129155" cy="402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3A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Hβ </a:t>
            </a:r>
            <a:r>
              <a:rPr lang="zh-CN" altLang="en-US" sz="2000" b="1" dirty="0">
                <a:solidFill>
                  <a:srgbClr val="143A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的信噪</a:t>
            </a:r>
            <a:r>
              <a:rPr lang="zh-CN" altLang="en-US" sz="2000" b="1" dirty="0">
                <a:solidFill>
                  <a:srgbClr val="143A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比图</a:t>
            </a:r>
            <a:endParaRPr lang="zh-CN" altLang="en-US" sz="2000" b="1" dirty="0">
              <a:solidFill>
                <a:srgbClr val="143A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85343" y="957707"/>
            <a:ext cx="10972800" cy="0"/>
          </a:xfrm>
          <a:prstGeom prst="line">
            <a:avLst/>
          </a:prstGeom>
          <a:noFill/>
          <a:ln w="12700">
            <a:solidFill>
              <a:srgbClr val="0E5A8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" y="1060704"/>
            <a:ext cx="4407408" cy="5102352"/>
          </a:xfrm>
          <a:prstGeom prst="roundRect">
            <a:avLst>
              <a:gd name="adj" fmla="val 166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7E3E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285232" y="1060704"/>
            <a:ext cx="6272784" cy="1901952"/>
          </a:xfrm>
          <a:prstGeom prst="roundRect">
            <a:avLst>
              <a:gd name="adj" fmla="val 3846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7E3E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468112" y="1207008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图题与图注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68112" y="1499616"/>
            <a:ext cx="5833872" cy="1207008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NGC1510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的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</a:t>
            </a: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Hbeta</a:t>
            </a: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的信噪比图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。</a:t>
            </a: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这张 Hbeta S/N 图显示：中心区域 S/N 非常高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往外逐渐降低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左侧有一条细长结构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边缘接近 0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。由左图可知，</a:t>
            </a: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如果要用 Hbeta 作为可靠区域掩膜，那至少在中心区是成立的。</a:t>
            </a:r>
            <a:endParaRPr lang="en-US" sz="1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5285232" y="3172968"/>
            <a:ext cx="6272784" cy="2990088"/>
          </a:xfrm>
          <a:prstGeom prst="roundRect">
            <a:avLst>
              <a:gd name="adj" fmla="val 2446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7E3E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468112" y="3310128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对应代码</a:t>
            </a:r>
            <a:endParaRPr lang="en-US" sz="1300" dirty="0"/>
          </a:p>
        </p:txBody>
      </p:sp>
      <p:pic>
        <p:nvPicPr>
          <p:cNvPr id="14" name="图片 13"/>
          <p:cNvPicPr/>
          <p:nvPr/>
        </p:nvPicPr>
        <p:blipFill>
          <a:blip r:embed="rId2"/>
          <a:stretch>
            <a:fillRect/>
          </a:stretch>
        </p:blipFill>
        <p:spPr>
          <a:xfrm>
            <a:off x="594360" y="1408430"/>
            <a:ext cx="4392000" cy="4392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7975" y="3597910"/>
            <a:ext cx="5994400" cy="22567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物理学院模板16×9/slide-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233" y="556133"/>
            <a:ext cx="81381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3A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Hη 采用 Hβ 信噪比掩膜的尝试总结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94233" y="958342"/>
            <a:ext cx="10972800" cy="0"/>
          </a:xfrm>
          <a:prstGeom prst="line">
            <a:avLst/>
          </a:prstGeom>
          <a:noFill/>
          <a:ln w="12700">
            <a:solidFill>
              <a:srgbClr val="0E5A8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" y="1060704"/>
            <a:ext cx="6748272" cy="5102352"/>
          </a:xfrm>
          <a:prstGeom prst="roundRect">
            <a:avLst>
              <a:gd name="adj" fmla="val 143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7E3E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1" descr="/mnt/data/Heta_Hbeta_masking_summary.png"/>
          <p:cNvPicPr>
            <a:picLocks noChangeAspect="1"/>
          </p:cNvPicPr>
          <p:nvPr/>
        </p:nvPicPr>
        <p:blipFill>
          <a:blip r:embed="rId2"/>
          <a:srcRect l="1983" t="4556" r="2479" b="20555"/>
          <a:stretch>
            <a:fillRect/>
          </a:stretch>
        </p:blipFill>
        <p:spPr>
          <a:xfrm>
            <a:off x="593725" y="1231265"/>
            <a:ext cx="6715760" cy="405193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16368" y="1060704"/>
            <a:ext cx="4041648" cy="1901952"/>
          </a:xfrm>
          <a:prstGeom prst="roundRect">
            <a:avLst>
              <a:gd name="adj" fmla="val 3846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7E3E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699248" y="1207008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图题与图注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699248" y="1499616"/>
            <a:ext cx="3611880" cy="1225296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按照老师建议，进一步尝试使用 Hβ 的 S/N 限制 Hη 的显示区域，并分别测试 Hβ S/N &gt; 3、5、7 三个阈值。结果显示三种方案都未恢复出稳定主体结构，说明 Hη 在当前数据中本身过弱。</a:t>
            </a:r>
            <a:endParaRPr lang="en-US" sz="1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7516368" y="3172968"/>
            <a:ext cx="4041648" cy="2990088"/>
          </a:xfrm>
          <a:prstGeom prst="roundRect">
            <a:avLst>
              <a:gd name="adj" fmla="val 2446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7E3E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699248" y="3310128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对应代码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699375" y="3640455"/>
            <a:ext cx="3611880" cy="1621790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0" algn="l">
              <a:buClrTx/>
              <a:buSzTx/>
              <a:buNone/>
            </a:pPr>
            <a:r>
              <a:rPr lang="en-US" sz="112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Heta_flux = data_dic['ppxf_gasflux']['Heta']['flux'].copy()</a:t>
            </a:r>
            <a:endParaRPr lang="en-US" sz="1120" dirty="0">
              <a:solidFill>
                <a:srgbClr val="2B2B2B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12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Hb_snr = data_dic['ppxf_gasflux']['Hbeta']['flux_snr']</a:t>
            </a:r>
            <a:endParaRPr lang="en-US" sz="1120" dirty="0">
              <a:solidFill>
                <a:srgbClr val="2B2B2B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12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cut in [3, 5, 7]:</a:t>
            </a:r>
            <a:endParaRPr lang="en-US" sz="1120" dirty="0">
              <a:solidFill>
                <a:srgbClr val="2B2B2B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12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Heta_try = Heta_flux.copy()</a:t>
            </a:r>
            <a:endParaRPr lang="en-US" sz="1120" dirty="0">
              <a:solidFill>
                <a:srgbClr val="2B2B2B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12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Heta_try[Hb_snr &lt; cut] = np.nan</a:t>
            </a:r>
            <a:endParaRPr lang="en-US" sz="1120" dirty="0">
              <a:solidFill>
                <a:srgbClr val="2B2B2B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12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比较 cut 后的 Heta 图形是否恢复主体结构</a:t>
            </a:r>
            <a:endParaRPr lang="en-US" sz="1120" dirty="0">
              <a:solidFill>
                <a:srgbClr val="2B2B2B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pic>
        <p:nvPicPr>
          <p:cNvPr id="14" name="图片 13"/>
          <p:cNvPicPr/>
          <p:nvPr/>
        </p:nvPicPr>
        <p:blipFill>
          <a:blip r:embed="rId3"/>
          <a:srcRect t="583"/>
          <a:stretch>
            <a:fillRect/>
          </a:stretch>
        </p:blipFill>
        <p:spPr>
          <a:xfrm>
            <a:off x="851535" y="2484120"/>
            <a:ext cx="1800000" cy="1367790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4"/>
          <a:srcRect t="1491"/>
          <a:stretch>
            <a:fillRect/>
          </a:stretch>
        </p:blipFill>
        <p:spPr>
          <a:xfrm>
            <a:off x="2975610" y="2484120"/>
            <a:ext cx="1800000" cy="1368000"/>
          </a:xfrm>
          <a:prstGeom prst="rect">
            <a:avLst/>
          </a:prstGeom>
        </p:spPr>
      </p:pic>
      <p:pic>
        <p:nvPicPr>
          <p:cNvPr id="16" name="图片 15"/>
          <p:cNvPicPr/>
          <p:nvPr/>
        </p:nvPicPr>
        <p:blipFill>
          <a:blip r:embed="rId5"/>
          <a:srcRect l="2954" t="583" r="3959" b="1333"/>
          <a:stretch>
            <a:fillRect/>
          </a:stretch>
        </p:blipFill>
        <p:spPr>
          <a:xfrm>
            <a:off x="5100320" y="2484120"/>
            <a:ext cx="1800000" cy="136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物理学院模板16×9/slide-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7055" y="633095"/>
            <a:ext cx="4145280" cy="2882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3A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中心 Pixel 的观测光谱与拟合结果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29463" y="969137"/>
            <a:ext cx="10972800" cy="0"/>
          </a:xfrm>
          <a:prstGeom prst="line">
            <a:avLst/>
          </a:prstGeom>
          <a:noFill/>
          <a:ln w="12700">
            <a:solidFill>
              <a:srgbClr val="0E5A8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" y="1060704"/>
            <a:ext cx="6748272" cy="5102352"/>
          </a:xfrm>
          <a:prstGeom prst="roundRect">
            <a:avLst>
              <a:gd name="adj" fmla="val 143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7E3E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1" descr="/mnt/data/NGC1510_center_pixel_spectrum_x10_y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590" y="1147445"/>
            <a:ext cx="6309360" cy="236347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16368" y="1060704"/>
            <a:ext cx="4041648" cy="1901952"/>
          </a:xfrm>
          <a:prstGeom prst="roundRect">
            <a:avLst>
              <a:gd name="adj" fmla="val 3846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7E3E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699248" y="1207008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图题与图注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699248" y="1499616"/>
            <a:ext cx="3611880" cy="1225296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zh-CN" altLang="en-US" sz="132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中心像素光谱与拟合图，</a:t>
            </a:r>
            <a:r>
              <a:rPr lang="en-US" sz="132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中心 pixel 由 Hα flux 最大值确定，坐标为 [x,y] = [10,18]。黑线为观测光谱，蓝线为总拟合，橙线为连续谱拟合。该图用于检查关键位置的谱线拟合质量。</a:t>
            </a:r>
            <a:endParaRPr lang="en-US" sz="1320" dirty="0"/>
          </a:p>
        </p:txBody>
      </p:sp>
      <p:sp>
        <p:nvSpPr>
          <p:cNvPr id="11" name="Shape 7"/>
          <p:cNvSpPr/>
          <p:nvPr/>
        </p:nvSpPr>
        <p:spPr>
          <a:xfrm>
            <a:off x="7516368" y="3172968"/>
            <a:ext cx="4041648" cy="2990088"/>
          </a:xfrm>
          <a:prstGeom prst="roundRect">
            <a:avLst>
              <a:gd name="adj" fmla="val 2446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7E3E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699248" y="3310128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对应代码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690485" y="3566160"/>
            <a:ext cx="3790950" cy="2331720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Ha_flux = data_dic['ppxf_gasflux']['Halpha']['flux'].copy()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Ha_flux[data_dic['ppxf_gasflux']['Halpha']['flux_snr'] &lt; 7] = np.nan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center_y, center_x = np.unravel_index(np.nanargmax(Ha_flux), Ha_flux.shape)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plot_spaxel_spectrum(data_dic, x=center_x, y=center_y, save=True,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outname='NGC1510_center_pixel_spectrum_x10_y18.png')</a:t>
            </a:r>
            <a:endParaRPr lang="en-US" sz="1080" dirty="0"/>
          </a:p>
        </p:txBody>
      </p:sp>
      <p:sp>
        <p:nvSpPr>
          <p:cNvPr id="14" name="文本框 13"/>
          <p:cNvSpPr txBox="1"/>
          <p:nvPr/>
        </p:nvSpPr>
        <p:spPr>
          <a:xfrm>
            <a:off x="783590" y="3575685"/>
            <a:ext cx="6114415" cy="2587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黑线：实际观测到的光谱数据。</a:t>
            </a:r>
            <a:endParaRPr lang="zh-CN" altLang="en-US" sz="12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r>
              <a:rPr lang="zh-CN" alt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特点：有噪声、有连续谱、有很多尖锐发射峰</a:t>
            </a:r>
            <a:endParaRPr lang="zh-CN" altLang="en-US" sz="12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r>
              <a:rPr lang="zh-CN" alt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蓝线：</a:t>
            </a:r>
            <a:r>
              <a:rPr lang="en-US" altLang="zh-CN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pPXF </a:t>
            </a:r>
            <a:r>
              <a:rPr lang="zh-CN" alt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拟合出来的总模型：连续谱加上发射线</a:t>
            </a:r>
            <a:endParaRPr lang="zh-CN" altLang="en-US" sz="12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r>
              <a:rPr lang="zh-CN" alt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目标是尽量贴合黑线</a:t>
            </a:r>
            <a:endParaRPr lang="zh-CN" altLang="en-US" sz="12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r>
              <a:rPr lang="zh-CN" alt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橙线：不含气体发射线，只保留连续谱部分。</a:t>
            </a:r>
            <a:endParaRPr lang="zh-CN" altLang="en-US" sz="12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r>
              <a:rPr lang="zh-CN" alt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由图可知，</a:t>
            </a:r>
            <a:r>
              <a:rPr lang="zh-CN" altLang="en-US" sz="1200" dirty="0">
                <a:solidFill>
                  <a:srgbClr val="333333"/>
                </a:solidFill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0"/>
              </a:rPr>
              <a:t>①</a:t>
            </a:r>
            <a:r>
              <a:rPr lang="zh-CN" alt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整体拟合是合理的，蓝线在大部分波段都跟黑线比较接近。说明</a:t>
            </a:r>
            <a:r>
              <a:rPr lang="en-US" altLang="zh-CN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pPXF </a:t>
            </a:r>
            <a:r>
              <a:rPr lang="zh-CN" alt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拟合总体成功，连续谱和发射线分解是有效的。</a:t>
            </a:r>
            <a:endParaRPr lang="zh-CN" altLang="en-US" sz="12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r>
              <a:rPr lang="en-US" altLang="zh-CN" sz="1200" dirty="0">
                <a:solidFill>
                  <a:srgbClr val="333333"/>
                </a:solidFill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0"/>
              </a:rPr>
              <a:t>                      </a:t>
            </a:r>
            <a:r>
              <a:rPr lang="zh-CN" altLang="en-US" sz="1200" dirty="0">
                <a:solidFill>
                  <a:srgbClr val="333333"/>
                </a:solidFill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0"/>
              </a:rPr>
              <a:t>②</a:t>
            </a:r>
            <a:r>
              <a:rPr lang="zh-CN" alt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发射线很强，图上在：</a:t>
            </a:r>
            <a:r>
              <a:rPr lang="" alt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3700–5000 Å </a:t>
            </a:r>
            <a:r>
              <a:rPr lang="zh-CN" alt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一带、</a:t>
            </a:r>
            <a:r>
              <a:rPr lang="" alt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6563 Å </a:t>
            </a:r>
            <a:r>
              <a:rPr lang="zh-CN" alt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附近、</a:t>
            </a:r>
            <a:r>
              <a:rPr lang="" alt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6700 Å </a:t>
            </a:r>
            <a:r>
              <a:rPr lang="zh-CN" alt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附近都有明显尖峰，说明中心像素的气体发射很强。</a:t>
            </a:r>
            <a:endParaRPr lang="zh-CN" altLang="en-US" sz="12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r>
              <a:rPr lang="en-US" altLang="zh-CN" sz="1200" dirty="0">
                <a:solidFill>
                  <a:srgbClr val="333333"/>
                </a:solidFill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0"/>
              </a:rPr>
              <a:t>                     </a:t>
            </a:r>
            <a:r>
              <a:rPr lang="zh-CN" altLang="en-US" sz="1200" dirty="0">
                <a:solidFill>
                  <a:srgbClr val="333333"/>
                </a:solidFill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0"/>
              </a:rPr>
              <a:t>③</a:t>
            </a:r>
            <a:r>
              <a:rPr lang="zh-CN" alt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中心像素选得合理，用 </a:t>
            </a:r>
            <a:r>
              <a:rPr lang="en-US" altLang="zh-CN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Halpha </a:t>
            </a:r>
            <a:r>
              <a:rPr lang="zh-CN" alt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最强点找出的中心 [10,18]，这个像素的光谱确实显示了最强的发射线特征之一。</a:t>
            </a:r>
            <a:endParaRPr lang="zh-CN" altLang="en-US" sz="12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r>
              <a:rPr lang="en-US" altLang="zh-CN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            </a:t>
            </a:r>
            <a:r>
              <a:rPr lang="zh-CN" alt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④某些线蓝线比黑线更尖，因为 </a:t>
            </a:r>
            <a:r>
              <a:rPr lang="en-US" altLang="zh-CN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pPXF </a:t>
            </a:r>
            <a:r>
              <a:rPr lang="zh-CN" alt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对发射线往往拟合成比较理想的窄峰，而真实数据里会有噪声、像元效应、仪器响应等影响，所以是常见合理的。</a:t>
            </a:r>
            <a:endParaRPr lang="zh-CN" altLang="en-US" sz="132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物理学院模板16×9/slide-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7055" y="554355"/>
            <a:ext cx="3408680" cy="402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000" b="1" dirty="0">
                <a:solidFill>
                  <a:srgbClr val="143A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[OIII]5007 / Hbeta</a:t>
            </a:r>
            <a:r>
              <a:rPr lang="zh-CN" altLang="en-US" sz="2000" b="1" dirty="0">
                <a:solidFill>
                  <a:srgbClr val="143A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线比图</a:t>
            </a:r>
            <a:endParaRPr lang="zh-CN" altLang="en-US" sz="2000" b="1" dirty="0">
              <a:solidFill>
                <a:srgbClr val="143A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85343" y="957707"/>
            <a:ext cx="10972800" cy="0"/>
          </a:xfrm>
          <a:prstGeom prst="line">
            <a:avLst/>
          </a:prstGeom>
          <a:noFill/>
          <a:ln w="12700">
            <a:solidFill>
              <a:srgbClr val="0E5A8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" y="1060704"/>
            <a:ext cx="4407408" cy="5102352"/>
          </a:xfrm>
          <a:prstGeom prst="roundRect">
            <a:avLst>
              <a:gd name="adj" fmla="val 166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7E3E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285232" y="1060704"/>
            <a:ext cx="6272784" cy="1901952"/>
          </a:xfrm>
          <a:prstGeom prst="roundRect">
            <a:avLst>
              <a:gd name="adj" fmla="val 3846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7E3E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468112" y="1207008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图题与图注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68112" y="1499616"/>
            <a:ext cx="5833872" cy="1207008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NGC1510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的</a:t>
            </a: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[OIII]5007 / Hbeta线比图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。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这张图整体比较平滑，主体区域颜色集中在绿色附近，局部有稍高值区、稍低值区。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[OIII]5007 / Hbeta 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反映的是气体电离状态、激发程度，数值高一些，通常表示高激发更强。</a:t>
            </a:r>
            <a:endParaRPr lang="zh-CN" altLang="en-US" sz="1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5285232" y="3172968"/>
            <a:ext cx="6272784" cy="2990088"/>
          </a:xfrm>
          <a:prstGeom prst="roundRect">
            <a:avLst>
              <a:gd name="adj" fmla="val 2446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7E3E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468112" y="3310128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对应代码</a:t>
            </a:r>
            <a:endParaRPr lang="en-US" sz="1300" dirty="0"/>
          </a:p>
        </p:txBody>
      </p:sp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" y="1408430"/>
            <a:ext cx="4392000" cy="4392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3855" y="3523615"/>
            <a:ext cx="5963920" cy="261429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物理学院模板16×9/slide-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7055" y="554355"/>
            <a:ext cx="3241040" cy="402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000" b="1" dirty="0">
                <a:solidFill>
                  <a:srgbClr val="143A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[NII]6583 / Halpha</a:t>
            </a:r>
            <a:r>
              <a:rPr lang="zh-CN" altLang="en-US" sz="2000" b="1" dirty="0">
                <a:solidFill>
                  <a:srgbClr val="143A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线比</a:t>
            </a:r>
            <a:r>
              <a:rPr lang="zh-CN" altLang="en-US" sz="2000" b="1" dirty="0">
                <a:solidFill>
                  <a:srgbClr val="143A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图</a:t>
            </a:r>
            <a:endParaRPr lang="zh-CN" altLang="en-US" sz="2000" b="1" dirty="0">
              <a:solidFill>
                <a:srgbClr val="143A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85343" y="957707"/>
            <a:ext cx="10972800" cy="0"/>
          </a:xfrm>
          <a:prstGeom prst="line">
            <a:avLst/>
          </a:prstGeom>
          <a:noFill/>
          <a:ln w="12700">
            <a:solidFill>
              <a:srgbClr val="0E5A8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" y="1060704"/>
            <a:ext cx="4407408" cy="5102352"/>
          </a:xfrm>
          <a:prstGeom prst="roundRect">
            <a:avLst>
              <a:gd name="adj" fmla="val 166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7E3E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285232" y="1060704"/>
            <a:ext cx="6272784" cy="1901952"/>
          </a:xfrm>
          <a:prstGeom prst="roundRect">
            <a:avLst>
              <a:gd name="adj" fmla="val 3846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7E3E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468112" y="1207008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图题与图注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68112" y="1499616"/>
            <a:ext cx="5833872" cy="1207008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NGC1510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的[NII]6583 / Halpha线比图。该图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中心区域偏低一些，外围稍有变化，结构是连续的，说明结果不是噪声堆出来的。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[NII]6583 / Halpha 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常用来反映金属丰度趋势、电离条件差异、不同区域的发射机制差别。</a:t>
            </a:r>
            <a:endParaRPr lang="zh-CN" altLang="en-US" sz="1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5285232" y="3172968"/>
            <a:ext cx="6272784" cy="2990088"/>
          </a:xfrm>
          <a:prstGeom prst="roundRect">
            <a:avLst>
              <a:gd name="adj" fmla="val 2446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7E3E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468112" y="3310128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对应代码</a:t>
            </a:r>
            <a:endParaRPr lang="en-US" sz="13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855" y="3523615"/>
            <a:ext cx="5963920" cy="2614295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3"/>
          <a:stretch>
            <a:fillRect/>
          </a:stretch>
        </p:blipFill>
        <p:spPr>
          <a:xfrm>
            <a:off x="609600" y="1408430"/>
            <a:ext cx="4392000" cy="4392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814"/>
            <a:ext cx="12192012" cy="6857643"/>
          </a:xfrm>
        </p:spPr>
      </p:pic>
      <p:sp>
        <p:nvSpPr>
          <p:cNvPr id="3" name="文本框 2"/>
          <p:cNvSpPr txBox="1"/>
          <p:nvPr/>
        </p:nvSpPr>
        <p:spPr>
          <a:xfrm>
            <a:off x="2727325" y="3429000"/>
            <a:ext cx="6799580" cy="890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感谢学长、学姐的垂听！</a:t>
            </a:r>
            <a:endParaRPr 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algn="ctr">
              <a:buClrTx/>
              <a:buSzTx/>
              <a:buNone/>
            </a:pPr>
            <a:r>
              <a:rPr 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恳请批评指正！</a:t>
            </a:r>
            <a:endParaRPr 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2545" y="620903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汇报人：吴鑫星
单位：兰州大学物理科学与技术学院</a:t>
            </a:r>
            <a:endParaRPr lang="en-US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grpSp>
        <p:nvGrpSpPr>
          <p:cNvPr id="3894" name="组合 3893"/>
          <p:cNvGrpSpPr/>
          <p:nvPr/>
        </p:nvGrpSpPr>
        <p:grpSpPr>
          <a:xfrm>
            <a:off x="2164080" y="1525270"/>
            <a:ext cx="7863840" cy="1903550"/>
            <a:chOff x="2164080" y="1304925"/>
            <a:chExt cx="7863840" cy="1903550"/>
          </a:xfrm>
        </p:grpSpPr>
        <p:sp>
          <p:nvSpPr>
            <p:cNvPr id="3767" name="矩形 3766"/>
            <p:cNvSpPr/>
            <p:nvPr/>
          </p:nvSpPr>
          <p:spPr>
            <a:xfrm>
              <a:off x="3101340" y="2788958"/>
              <a:ext cx="5951220" cy="168266"/>
            </a:xfrm>
            <a:prstGeom prst="rect">
              <a:avLst/>
            </a:prstGeom>
            <a:solidFill>
              <a:srgbClr val="FF6699"/>
            </a:solidFill>
            <a:ln w="12700" cap="rnd">
              <a:noFill/>
              <a:round/>
            </a:ln>
            <a:scene3d>
              <a:camera prst="perspectiveRelaxedModerately" fov="2700000">
                <a:rot lat="21290637" lon="0" rev="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dirty="0">
                  <a:noFill/>
                </a:rPr>
                <a:t>2</a:t>
              </a:r>
              <a:endParaRPr lang="zh-CN" altLang="en-US" dirty="0">
                <a:noFill/>
              </a:endParaRPr>
            </a:p>
          </p:txBody>
        </p:sp>
        <p:pic>
          <p:nvPicPr>
            <p:cNvPr id="3766" name="图片 376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64080" y="1304925"/>
              <a:ext cx="7863840" cy="190355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8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5322</Words>
  <Application>WPS 演示</Application>
  <PresentationFormat>On-screen Show (16:9)</PresentationFormat>
  <Paragraphs>221</Paragraphs>
  <Slides>19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微软雅黑</vt:lpstr>
      <vt:lpstr>Consolas</vt:lpstr>
      <vt:lpstr>Consolas</vt:lpstr>
      <vt:lpstr>Consolas</vt:lpstr>
      <vt:lpstr>Arial Unicode MS</vt:lpstr>
      <vt:lpstr>等线 Light</vt:lpstr>
      <vt:lpstr>等线</vt:lpstr>
      <vt:lpstr>Times New Roman</vt:lpstr>
      <vt:lpstr>Calibri</vt:lpstr>
      <vt:lpstr>Office Theme</vt:lpstr>
      <vt:lpstr>1_Office Theme</vt:lpstr>
      <vt:lpstr>PowerPoint 演示文稿</vt:lpstr>
      <vt:lpstr>PowerPoint 演示文稿</vt:lpstr>
      <vt:lpstr>数据的读取</vt:lpstr>
      <vt:lpstr>数据的读取</vt:lpstr>
      <vt:lpstr>PowerPoint 演示文稿</vt:lpstr>
      <vt:lpstr>数据的读取</vt:lpstr>
      <vt:lpstr>建立通用函数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NGC1510 发射线 Map 与中心像素拟合汇报（物理学院模板版）</dc:title>
  <dc:creator>OpenAI</dc:creator>
  <dc:subject>NGC1510 发射线 Map 与中心像素拟合汇报</dc:subject>
  <cp:lastModifiedBy>  Joker</cp:lastModifiedBy>
  <cp:revision>2</cp:revision>
  <dcterms:created xsi:type="dcterms:W3CDTF">2026-04-07T05:18:00Z</dcterms:created>
  <dcterms:modified xsi:type="dcterms:W3CDTF">2026-04-07T08:12:44Z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2052-12.1.0.25835</vt:lpwstr>
  </property>
  <property fmtid="{D5CDD505-2E9C-101B-9397-08002B2CF9AE}" pid="3" name="ICV">
    <vt:lpwstr>1B6CAABDADB249639F05073C62F5E16F_12</vt:lpwstr>
  </property>
</Properties>
</file>